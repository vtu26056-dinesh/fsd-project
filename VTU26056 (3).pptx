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65" r:id="rId15"/>
  </p:sldIdLst>
  <p:sldSz cx="18288000" cy="10287000"/>
  <p:notesSz cx="6858000" cy="9144000"/>
  <p:embeddedFontLst>
    <p:embeddedFont>
      <p:font typeface="Bookman Old Style" panose="02050604050505020204" pitchFamily="18" charset="0"/>
      <p:regular r:id="rId16"/>
      <p:bold r:id="rId17"/>
      <p:italic r:id="rId18"/>
      <p:boldItalic r:id="rId19"/>
    </p:embeddedFont>
    <p:embeddedFont>
      <p:font typeface="Cambria" panose="02040503050406030204" pitchFamily="18" charset="0"/>
      <p:regular r:id="rId20"/>
      <p:bold r:id="rId21"/>
      <p:italic r:id="rId22"/>
      <p:boldItalic r:id="rId23"/>
    </p:embeddedFont>
    <p:embeddedFont>
      <p:font typeface="Gotham" panose="020B0604020202020204" charset="0"/>
      <p:regular r:id="rId24"/>
    </p:embeddedFont>
    <p:embeddedFont>
      <p:font typeface="Gotham Bold Italics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8" d="100"/>
          <a:sy n="48" d="100"/>
        </p:scale>
        <p:origin x="734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24-03-2026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828800" y="5797557"/>
            <a:ext cx="157841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Rational Expense Analytics </a:t>
            </a:r>
            <a:r>
              <a:rPr lang="en-US" sz="3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Platform</a:t>
            </a:r>
            <a:endParaRPr lang="en-IN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V.Dinesh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– VTU26056 – Reg.No.23UECS0586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Dr.Hafizur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Rahman – Assistant Professor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8 -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TrackWise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: Analytics Platform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05789" y="2225431"/>
            <a:ext cx="15049500" cy="12218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TrackWise</a:t>
            </a:r>
            <a:r>
              <a:rPr lang="en-US" sz="3600" dirty="0"/>
              <a:t> is a dynamic web-based application designed to help users track and analyze their daily expenses efficiently.</a:t>
            </a:r>
            <a:br>
              <a:rPr lang="en-US" sz="3600" dirty="0"/>
            </a:br>
            <a:r>
              <a:rPr lang="en-US" sz="3600" dirty="0"/>
              <a:t>Managing personal finances manually can lead to errors and lack of insights.</a:t>
            </a:r>
            <a:br>
              <a:rPr lang="en-US" sz="3600" dirty="0"/>
            </a:br>
            <a:r>
              <a:rPr lang="en-US" sz="3600" dirty="0"/>
              <a:t>This system uses database queries and web technologies to automate expense tracking.</a:t>
            </a:r>
            <a:br>
              <a:rPr lang="en-US" sz="3600" dirty="0"/>
            </a:br>
            <a:r>
              <a:rPr lang="en-US" sz="3600" dirty="0"/>
              <a:t>It allows users to store, retrieve, and analyze financial data in real time.</a:t>
            </a:r>
            <a:br>
              <a:rPr lang="en-US" sz="3600" dirty="0"/>
            </a:br>
            <a:r>
              <a:rPr lang="en-US" sz="3600" dirty="0"/>
              <a:t>The platform provides meaningful insights through categorized expense analysis.</a:t>
            </a:r>
            <a:br>
              <a:rPr lang="en-US" sz="3600" dirty="0"/>
            </a:br>
            <a:r>
              <a:rPr lang="en-US" sz="3600" dirty="0"/>
              <a:t>It improves financial awareness and decision-making.</a:t>
            </a:r>
            <a:br>
              <a:rPr lang="en-US" sz="3600" dirty="0"/>
            </a:br>
            <a:r>
              <a:rPr lang="en-US" sz="3600" dirty="0"/>
              <a:t>The system is scalable and accessible through web browsers.</a:t>
            </a:r>
            <a:br>
              <a:rPr lang="en-US" sz="3600" dirty="0"/>
            </a:br>
            <a:r>
              <a:rPr lang="en-US" sz="3600" dirty="0"/>
              <a:t>It demonstrates real-world application of full-stack development.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399264" y="2245318"/>
            <a:ext cx="1508232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Many individuals rely on manual methods or basic apps to track expenses, which lack analytical capabilities.</a:t>
            </a:r>
            <a:br>
              <a:rPr lang="en-US" sz="3600" dirty="0"/>
            </a:br>
            <a:r>
              <a:rPr lang="en-US" sz="3600" dirty="0"/>
              <a:t>This results in poor financial planning and lack of control over spending habits.</a:t>
            </a:r>
            <a:br>
              <a:rPr lang="en-US" sz="3600" dirty="0"/>
            </a:br>
            <a:r>
              <a:rPr lang="en-US" sz="3600" dirty="0"/>
              <a:t>Existing systems may not provide structured storage or real-time insights.</a:t>
            </a:r>
            <a:br>
              <a:rPr lang="en-US" sz="3600" dirty="0"/>
            </a:br>
            <a:r>
              <a:rPr lang="en-US" sz="3600" dirty="0"/>
              <a:t>There is a need for a simple, automated, and database-driven system.</a:t>
            </a:r>
            <a:br>
              <a:rPr lang="en-US" sz="3600" dirty="0"/>
            </a:br>
            <a:r>
              <a:rPr lang="en-US" sz="3600" dirty="0"/>
              <a:t>The system should efficiently manage expense data and generate meaningful analysis.</a:t>
            </a:r>
            <a:br>
              <a:rPr lang="en-US" sz="3600" dirty="0"/>
            </a:br>
            <a:r>
              <a:rPr lang="en-US" sz="3600" dirty="0"/>
              <a:t>It should also be user-friendly and accessible across devices.</a:t>
            </a:r>
            <a:br>
              <a:rPr lang="en-US" sz="3600" dirty="0"/>
            </a:br>
            <a:r>
              <a:rPr lang="en-US" sz="3600" dirty="0"/>
              <a:t>Hence, a dynamic web-based solution is required.</a:t>
            </a:r>
            <a:br>
              <a:rPr lang="en-US" sz="3600" dirty="0"/>
            </a:br>
            <a:r>
              <a:rPr lang="en-US" sz="3600" dirty="0" err="1"/>
              <a:t>TrackWise</a:t>
            </a:r>
            <a:r>
              <a:rPr lang="en-US" sz="3600" dirty="0"/>
              <a:t> addresses these issues effectively.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0" y="440921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4724400" y="4380394"/>
            <a:ext cx="150823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C66C2A-262F-3EE2-CAD7-9180DB44B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2569" y="1723874"/>
            <a:ext cx="16325431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design and develop a simple web application to track daily expenses.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implement a system that stores and manages expense data using MySQL.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improve financial awareness by analyzing spending 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create dynamic web pages for easy interaction with users.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evaluate user expenses and generate basic reports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5715000" y="51435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777ABA-C108-31EF-71F2-D6BB6175EC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1425" y="1031993"/>
            <a:ext cx="10708381" cy="89562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User-friendly interface for managing expenses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login and user authentication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Add, edit, delete expense records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Categorization of expenses (food, travel, etc.)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data storage using MySQL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retrieval using optimized SQL queries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Analytical insights through summaries and reports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Responsive design accessible on multiple devices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973064" y="1338984"/>
            <a:ext cx="15082325" cy="10248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3600" b="1" dirty="0"/>
          </a:p>
          <a:p>
            <a:r>
              <a:rPr lang="en-US" sz="3600" b="1" dirty="0"/>
              <a:t>Explanation:</a:t>
            </a:r>
            <a:endParaRPr lang="en-US" sz="3600" dirty="0"/>
          </a:p>
          <a:p>
            <a:r>
              <a:rPr lang="en-US" sz="3600" b="1" dirty="0"/>
              <a:t>Input:</a:t>
            </a:r>
            <a:r>
              <a:rPr lang="en-US" sz="3600" dirty="0"/>
              <a:t> User enters expense details (amount, category, date) </a:t>
            </a:r>
          </a:p>
          <a:p>
            <a:endParaRPr lang="en-US" sz="3600" dirty="0"/>
          </a:p>
          <a:p>
            <a:r>
              <a:rPr lang="en-US" sz="3600" b="1" dirty="0"/>
              <a:t>Processing:</a:t>
            </a:r>
            <a:r>
              <a:rPr lang="en-US" sz="3600" dirty="0"/>
              <a:t> Server processes request using PHP/Node.js </a:t>
            </a:r>
          </a:p>
          <a:p>
            <a:endParaRPr lang="en-US" sz="3600" dirty="0"/>
          </a:p>
          <a:p>
            <a:r>
              <a:rPr lang="en-US" sz="3600" b="1" dirty="0"/>
              <a:t>Database:</a:t>
            </a:r>
            <a:r>
              <a:rPr lang="en-US" sz="3600" dirty="0"/>
              <a:t> MySQL stores and retrieves expense records</a:t>
            </a:r>
          </a:p>
          <a:p>
            <a:r>
              <a:rPr lang="en-US" sz="3600" dirty="0"/>
              <a:t> </a:t>
            </a:r>
          </a:p>
          <a:p>
            <a:r>
              <a:rPr lang="en-US" sz="3600" b="1" dirty="0"/>
              <a:t>Output:</a:t>
            </a:r>
            <a:r>
              <a:rPr lang="en-US" sz="3600" dirty="0"/>
              <a:t> Displays reports, summaries, and analytics on web pages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943758-989F-FDF0-49A7-1E2937F205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1527165"/>
            <a:ext cx="9908638" cy="33390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8001000" y="1373768"/>
            <a:ext cx="15082325" cy="125265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USER</a:t>
            </a:r>
          </a:p>
          <a:p>
            <a:r>
              <a:rPr lang="en-US" sz="2400" dirty="0"/>
              <a:t> │</a:t>
            </a:r>
          </a:p>
          <a:p>
            <a:r>
              <a:rPr lang="en-US" sz="2400" dirty="0"/>
              <a:t> ▼</a:t>
            </a:r>
          </a:p>
          <a:p>
            <a:r>
              <a:rPr lang="en-US" sz="2400" dirty="0"/>
              <a:t>[Login/Register]</a:t>
            </a:r>
          </a:p>
          <a:p>
            <a:r>
              <a:rPr lang="en-US" sz="2400" dirty="0"/>
              <a:t> │</a:t>
            </a:r>
          </a:p>
          <a:p>
            <a:r>
              <a:rPr lang="en-US" sz="2400" dirty="0"/>
              <a:t> ▼</a:t>
            </a:r>
          </a:p>
          <a:p>
            <a:r>
              <a:rPr lang="en-US" sz="2400" dirty="0"/>
              <a:t>[Expense Input Module]</a:t>
            </a:r>
          </a:p>
          <a:p>
            <a:r>
              <a:rPr lang="en-US" sz="2400" dirty="0"/>
              <a:t> │</a:t>
            </a:r>
          </a:p>
          <a:p>
            <a:r>
              <a:rPr lang="en-US" sz="2400" dirty="0"/>
              <a:t> ▼</a:t>
            </a:r>
          </a:p>
          <a:p>
            <a:r>
              <a:rPr lang="en-US" sz="2400" dirty="0"/>
              <a:t>[Processing &amp; Validation]</a:t>
            </a:r>
          </a:p>
          <a:p>
            <a:r>
              <a:rPr lang="en-US" sz="2400" dirty="0"/>
              <a:t> │</a:t>
            </a:r>
          </a:p>
          <a:p>
            <a:r>
              <a:rPr lang="en-US" sz="2400" dirty="0"/>
              <a:t> ▼</a:t>
            </a:r>
          </a:p>
          <a:p>
            <a:r>
              <a:rPr lang="en-US" sz="2400" dirty="0"/>
              <a:t>[Database (MySQL)]</a:t>
            </a:r>
          </a:p>
          <a:p>
            <a:r>
              <a:rPr lang="en-US" sz="2400" dirty="0"/>
              <a:t> │</a:t>
            </a:r>
          </a:p>
          <a:p>
            <a:r>
              <a:rPr lang="en-US" sz="2400" dirty="0"/>
              <a:t> ▼</a:t>
            </a:r>
          </a:p>
          <a:p>
            <a:r>
              <a:rPr lang="en-US" sz="2400" dirty="0"/>
              <a:t>[Analytics &amp; Reports]</a:t>
            </a:r>
          </a:p>
          <a:p>
            <a:r>
              <a:rPr lang="en-US" sz="2400" dirty="0"/>
              <a:t> │</a:t>
            </a:r>
          </a:p>
          <a:p>
            <a:r>
              <a:rPr lang="en-US" sz="2400" dirty="0"/>
              <a:t> ▼</a:t>
            </a:r>
          </a:p>
          <a:p>
            <a:r>
              <a:rPr lang="en-US" sz="2400" dirty="0"/>
              <a:t>[Display Output]</a:t>
            </a:r>
          </a:p>
          <a:p>
            <a:r>
              <a:rPr lang="en-US" sz="2400" dirty="0"/>
              <a:t> │</a:t>
            </a:r>
          </a:p>
          <a:p>
            <a:r>
              <a:rPr lang="en-US" sz="2400" dirty="0"/>
              <a:t> ▼</a:t>
            </a:r>
          </a:p>
          <a:p>
            <a:r>
              <a:rPr lang="en-US" sz="2400" dirty="0"/>
              <a:t>USER</a:t>
            </a:r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5334000" y="5497847"/>
            <a:ext cx="1508232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: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DE53E9-1781-BAAB-6D00-AF426605EC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527885"/>
            <a:ext cx="9162188" cy="8125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HTML5, CSS3, JavaScript (ES6)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PHP / Node.js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MySQL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XAMPP / Apache Tomcat / VS Code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Hardware/Software Requirements: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with 4GB RAM minimum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browser (Chrome/Edge)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 server (XAMPP/WAMP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585301" y="1583453"/>
            <a:ext cx="15082325" cy="10187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r>
              <a:rPr lang="en-US" sz="3600" b="1" dirty="0"/>
              <a:t>Module 1: User Management</a:t>
            </a:r>
            <a:br>
              <a:rPr lang="en-US" sz="3600" dirty="0"/>
            </a:br>
            <a:r>
              <a:rPr lang="en-US" sz="3600" dirty="0"/>
              <a:t>Handles user registration, login, and authentication securely.</a:t>
            </a:r>
          </a:p>
          <a:p>
            <a:endParaRPr lang="en-US" sz="3600" dirty="0"/>
          </a:p>
          <a:p>
            <a:r>
              <a:rPr lang="en-US" sz="3600" b="1" dirty="0"/>
              <a:t>Module 2: Expense Management</a:t>
            </a:r>
            <a:br>
              <a:rPr lang="en-US" sz="3600" dirty="0"/>
            </a:br>
            <a:r>
              <a:rPr lang="en-US" sz="3600" dirty="0"/>
              <a:t>Allows users to add, edit, delete, and categorize expenses.</a:t>
            </a:r>
          </a:p>
          <a:p>
            <a:endParaRPr lang="en-US" sz="3600" dirty="0"/>
          </a:p>
          <a:p>
            <a:r>
              <a:rPr lang="en-US" sz="3600" b="1" dirty="0"/>
              <a:t>Module 3: Database Management</a:t>
            </a:r>
            <a:br>
              <a:rPr lang="en-US" sz="3600" dirty="0"/>
            </a:br>
            <a:r>
              <a:rPr lang="en-US" sz="3600" dirty="0"/>
              <a:t>Manages storage, retrieval, and integrity of expense data using MySQL.</a:t>
            </a:r>
          </a:p>
          <a:p>
            <a:endParaRPr lang="en-US" sz="3600" dirty="0"/>
          </a:p>
          <a:p>
            <a:r>
              <a:rPr lang="en-US" sz="3600" b="1" dirty="0"/>
              <a:t>Module 4: Analytics &amp; Reporting</a:t>
            </a:r>
            <a:br>
              <a:rPr lang="en-US" sz="3600" dirty="0"/>
            </a:br>
            <a:r>
              <a:rPr lang="en-US" sz="3600" dirty="0"/>
              <a:t>Generates summaries and insights like total spending and category-wise analysis.</a:t>
            </a: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722781" y="3559513"/>
            <a:ext cx="15082325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                                         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r>
              <a:rPr lang="en-US" sz="2800" dirty="0"/>
              <a:t>  </a:t>
            </a:r>
          </a:p>
          <a:p>
            <a:r>
              <a:rPr lang="en-US" sz="2800" b="1" dirty="0"/>
              <a:t>Login Page :</a:t>
            </a:r>
          </a:p>
          <a:p>
            <a:endParaRPr lang="en-US" sz="2800" dirty="0"/>
          </a:p>
          <a:p>
            <a:r>
              <a:rPr lang="en-US" altLang="en-US" sz="2800" dirty="0">
                <a:latin typeface="Arial" panose="020B0604020202020204" pitchFamily="34" charset="0"/>
              </a:rPr>
              <a:t>A login page allows users to securely access their account by entering their username and password.</a:t>
            </a:r>
          </a:p>
          <a:p>
            <a:br>
              <a:rPr lang="en-US" altLang="en-US" sz="2800" dirty="0">
                <a:latin typeface="Arial" panose="020B0604020202020204" pitchFamily="34" charset="0"/>
              </a:rPr>
            </a:br>
            <a:r>
              <a:rPr lang="en-US" altLang="en-US" sz="2800" dirty="0">
                <a:latin typeface="Arial" panose="020B0604020202020204" pitchFamily="34" charset="0"/>
              </a:rPr>
              <a:t>It ensures authentication and protects personal data from unauthorized access.</a:t>
            </a:r>
          </a:p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4973FF-37D1-7794-0EAB-98951CDD96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3747" y="1315855"/>
            <a:ext cx="12551228" cy="4976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433633" y="3904229"/>
            <a:ext cx="15082325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r>
              <a:rPr lang="en-US" sz="2800" b="1" dirty="0"/>
              <a:t>Expense Chart : </a:t>
            </a:r>
          </a:p>
          <a:p>
            <a:r>
              <a:rPr lang="en-US" sz="2800" dirty="0"/>
              <a:t>The </a:t>
            </a:r>
            <a:r>
              <a:rPr lang="en-US" sz="2800" dirty="0" err="1"/>
              <a:t>TrackWise</a:t>
            </a:r>
            <a:r>
              <a:rPr lang="en-US" sz="2800" dirty="0"/>
              <a:t> Dashboard provides a clear overview of user expenses with a visual chart  for easy analysis.</a:t>
            </a:r>
          </a:p>
          <a:p>
            <a:endParaRPr lang="en-US" sz="2800" dirty="0"/>
          </a:p>
          <a:p>
            <a:r>
              <a:rPr lang="en-US" sz="2800" dirty="0"/>
              <a:t>It helps users monitor spending patterns and manage their finances efficiently in one  place.</a:t>
            </a:r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A55CD3-DFEC-D834-05C8-D5F82EC5A8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5734" y="1560027"/>
            <a:ext cx="13076532" cy="5117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4269957" y="12401941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EF9B58-1B86-330F-1885-AEAE7C5F69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7244" y="1581967"/>
            <a:ext cx="14071330" cy="5071927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D1830565-AAC2-2930-A439-EB797E3F3E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61499" y="-3084594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Add Expense page allows users to record their spending by entering amount, category, and date.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updates the total expenses and helps track financial activities efficiently.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75B0C04-3D2E-BBC6-3979-F8FD1222B8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2315" y="6854015"/>
            <a:ext cx="16315685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Expense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Add Expense page allows users to record their spending by entering amount, category, and date.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updates the total expenses and helps track financial activities efficiently.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088345" y="5129356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902902-FD77-7BD5-8173-0764D9754E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3441" y="6389889"/>
            <a:ext cx="15431404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 </a:t>
            </a:r>
            <a:r>
              <a:rPr lang="en-US" altLang="en-US" sz="2800" b="1" dirty="0">
                <a:latin typeface="Arial" panose="020B0604020202020204" pitchFamily="34" charset="0"/>
              </a:rPr>
              <a:t>Put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8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section displays a list of all recorded expenses with details like amount, category, and date.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allows users to easily manage entries by editing or deleting them as needed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A70DB0-5E74-EBB6-DB35-89DE9D4D44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7452" y="2238718"/>
            <a:ext cx="14885577" cy="3780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655</TotalTime>
  <Words>947</Words>
  <Application>Microsoft Office PowerPoint</Application>
  <PresentationFormat>Custom</PresentationFormat>
  <Paragraphs>337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Cambria</vt:lpstr>
      <vt:lpstr>Gotham Bold Italics</vt:lpstr>
      <vt:lpstr>Gotham</vt:lpstr>
      <vt:lpstr>Bookman Old Style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cp:lastModifiedBy>dinesh vaka</cp:lastModifiedBy>
  <cp:revision>16</cp:revision>
  <dcterms:created xsi:type="dcterms:W3CDTF">2006-08-16T00:00:00Z</dcterms:created>
  <dcterms:modified xsi:type="dcterms:W3CDTF">2026-03-27T05:34:49Z</dcterms:modified>
  <dc:identifier>DAHCaYqJ9OU</dc:identifier>
</cp:coreProperties>
</file>